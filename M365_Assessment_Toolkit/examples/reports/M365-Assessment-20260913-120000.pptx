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Microsoft 365 — Assessment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Microsoft 365 / Entra ID / Exchange Online • 13/09/2026 12:00:00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6 usuários • 5 ativos • 3 licenciados</a:t>
            </a:r>
          </a:p>
          <a:p>
            <a:pPr>
              <a:spcAft>
                <a:spcPts val="1200"/>
              </a:spcAft>
              <a:defRPr sz="2400"/>
            </a:pPr>
            <a:r>
              <a:t>6 mailboxes • 2 shared mailboxes</a:t>
            </a:r>
          </a:p>
          <a:p>
            <a:pPr>
              <a:spcAft>
                <a:spcPts val="1200"/>
              </a:spcAft>
              <a:defRPr sz="2400"/>
            </a:pPr>
            <a:r>
              <a:t>3 grupos • 1 Teams • 3 dispositivos</a:t>
            </a:r>
          </a:p>
          <a:p>
            <a:pPr>
              <a:spcAft>
                <a:spcPts val="1200"/>
              </a:spcAft>
              <a:defRPr sz="2400"/>
            </a:pPr>
            <a:r>
              <a:t>1 Global Administrators</a:t>
            </a:r>
          </a:p>
          <a:p>
            <a:pPr>
              <a:spcAft>
                <a:spcPts val="1200"/>
              </a:spcAft>
              <a:defRPr sz="2400"/>
            </a:pPr>
            <a:r>
              <a:t>3 achados prioritários identificados automaticamente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Panorama do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Identidade: 6 usuários (5 ativos / 1 bloqueados).</a:t>
            </a:r>
          </a:p>
          <a:p>
            <a:pPr>
              <a:spcAft>
                <a:spcPts val="1200"/>
              </a:spcAft>
              <a:defRPr sz="2000"/>
            </a:pPr>
            <a:r>
              <a:t>Licenciamento: 3 licenciados / 3 sem licença.</a:t>
            </a:r>
          </a:p>
          <a:p>
            <a:pPr>
              <a:spcAft>
                <a:spcPts val="1200"/>
              </a:spcAft>
              <a:defRPr sz="2000"/>
            </a:pPr>
            <a:r>
              <a:t>Exchange: 3 user mailboxes, 2 shared, 1 room.</a:t>
            </a:r>
          </a:p>
          <a:p>
            <a:pPr>
              <a:spcAft>
                <a:spcPts val="1200"/>
              </a:spcAft>
              <a:defRPr sz="2000"/>
            </a:pPr>
            <a:r>
              <a:t>Colaboração: 3 grupos, 2 Microsoft 365 Groups e 1 Teams.</a:t>
            </a:r>
          </a:p>
          <a:p>
            <a:pPr>
              <a:spcAft>
                <a:spcPts val="1200"/>
              </a:spcAft>
              <a:defRPr sz="2000"/>
            </a:pPr>
            <a:r>
              <a:t>Auditoria: 2 sign-ins e 2 eventos de diretório coletados.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Segurança e autenticação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Security Defaults: DESABILITADO.</a:t>
            </a:r>
          </a:p>
          <a:p>
            <a:pPr>
              <a:spcAft>
                <a:spcPts val="1200"/>
              </a:spcAft>
              <a:defRPr sz="2000"/>
            </a:pPr>
            <a:r>
              <a:t>Conditional Access: 0 políticas identificadas.</a:t>
            </a:r>
          </a:p>
          <a:p>
            <a:pPr>
              <a:spcAft>
                <a:spcPts val="1200"/>
              </a:spcAft>
              <a:defRPr sz="2000"/>
            </a:pPr>
            <a:r>
              <a:t>3 usuários com método MFA-capable identificado.</a:t>
            </a:r>
          </a:p>
          <a:p>
            <a:pPr>
              <a:spcAft>
                <a:spcPts val="1200"/>
              </a:spcAft>
              <a:defRPr sz="2000"/>
            </a:pPr>
            <a:r>
              <a:t>3 usuários sem método MFA-capable identificado.</a:t>
            </a:r>
          </a:p>
          <a:p>
            <a:pPr>
              <a:spcAft>
                <a:spcPts val="1200"/>
              </a:spcAft>
              <a:defRPr sz="2000"/>
            </a:pPr>
            <a:r>
              <a:t>O inventário de método não prova sozinho que MFA esteja ou não sendo exigido.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Privileged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 Global Administrators identificados.</a:t>
            </a:r>
          </a:p>
          <a:p>
            <a:pPr>
              <a:spcAft>
                <a:spcPts val="1200"/>
              </a:spcAft>
              <a:defRPr sz="2200"/>
            </a:pPr>
            <a:r>
              <a:t>2 assignments de roles registrados.</a:t>
            </a:r>
          </a:p>
          <a:p>
            <a:pPr>
              <a:spcAft>
                <a:spcPts val="1200"/>
              </a:spcAft>
              <a:defRPr sz="2200"/>
            </a:pPr>
            <a:r>
              <a:t>Revisar necessidade dos privilégios e aplicar menor privilégio.</a:t>
            </a:r>
          </a:p>
          <a:p>
            <a:pPr>
              <a:spcAft>
                <a:spcPts val="1200"/>
              </a:spcAft>
              <a:defRPr sz="2200"/>
            </a:pPr>
            <a:r>
              <a:t>Separar administração de uso cotidiano quando fizer sentido operacionalmente.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Governança e colaboração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3 grupos identificados.</a:t>
            </a:r>
          </a:p>
          <a:p>
            <a:pPr>
              <a:spcAft>
                <a:spcPts val="1200"/>
              </a:spcAft>
              <a:defRPr sz="2200"/>
            </a:pPr>
            <a:r>
              <a:t>2 grupos sem proprietário identificado.</a:t>
            </a:r>
          </a:p>
          <a:p>
            <a:pPr>
              <a:spcAft>
                <a:spcPts val="1200"/>
              </a:spcAft>
              <a:defRPr sz="2200"/>
            </a:pPr>
            <a:r>
              <a:t>1 grupos sem membros.</a:t>
            </a:r>
          </a:p>
          <a:p>
            <a:pPr>
              <a:spcAft>
                <a:spcPts val="1200"/>
              </a:spcAft>
              <a:defRPr sz="2200"/>
            </a:pPr>
            <a:r>
              <a:t>1 Teams detectados.</a:t>
            </a:r>
          </a:p>
          <a:p>
            <a:pPr>
              <a:spcAft>
                <a:spcPts val="1200"/>
              </a:spcAft>
              <a:defRPr sz="2200"/>
            </a:pPr>
            <a:r>
              <a:t>Definir owner e ciclo de vida para grupos que permanecerão ativos.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Dispositivos e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3 dispositivos registrados no Entra ID.</a:t>
            </a:r>
          </a:p>
          <a:p>
            <a:pPr>
              <a:spcAft>
                <a:spcPts val="1200"/>
              </a:spcAft>
              <a:defRPr sz="2000"/>
            </a:pPr>
            <a:r>
              <a:t>1 App Registrations.</a:t>
            </a:r>
          </a:p>
          <a:p>
            <a:pPr>
              <a:spcAft>
                <a:spcPts val="1200"/>
              </a:spcAft>
              <a:defRPr sz="2000"/>
            </a:pPr>
            <a:r>
              <a:t>2 Enterprise Applications / service principals.</a:t>
            </a:r>
          </a:p>
          <a:p>
            <a:pPr>
              <a:spcAft>
                <a:spcPts val="1200"/>
              </a:spcAft>
              <a:defRPr sz="2000"/>
            </a:pPr>
            <a:r>
              <a:t>Service principals não equivalem à mesma quantidade de aplicações de negócio.</a:t>
            </a:r>
          </a:p>
          <a:p>
            <a:pPr>
              <a:spcAft>
                <a:spcPts val="1200"/>
              </a:spcAft>
              <a:defRPr sz="2000"/>
            </a:pPr>
            <a:r>
              <a:t>Próxima etapa: classificar objetos atuais, antigos, duplicados e integrações.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Prioridades recomendadas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1. Revisar Global Administrators e demais privilégios.</a:t>
            </a:r>
          </a:p>
          <a:p>
            <a:pPr>
              <a:spcAft>
                <a:spcPts val="1200"/>
              </a:spcAft>
              <a:defRPr sz="2100"/>
            </a:pPr>
            <a:r>
              <a:t>2. Definir estratégia de MFA proporcional ao risco.</a:t>
            </a:r>
          </a:p>
          <a:p>
            <a:pPr>
              <a:spcAft>
                <a:spcPts val="1200"/>
              </a:spcAft>
              <a:defRPr sz="2100"/>
            </a:pPr>
            <a:r>
              <a:t>3. Organizar grupos sem proprietário.</a:t>
            </a:r>
          </a:p>
          <a:p>
            <a:pPr>
              <a:spcAft>
                <a:spcPts val="1200"/>
              </a:spcAft>
              <a:defRPr sz="2100"/>
            </a:pPr>
            <a:r>
              <a:t>4. Classificar usuários sem licença.</a:t>
            </a:r>
          </a:p>
          <a:p>
            <a:pPr>
              <a:spcAft>
                <a:spcPts val="1200"/>
              </a:spcAft>
              <a:defRPr sz="2100"/>
            </a:pPr>
            <a:r>
              <a:t>5. Classificar dispositivos e aplicações.</a:t>
            </a:r>
          </a:p>
          <a:p>
            <a:pPr>
              <a:spcAft>
                <a:spcPts val="1200"/>
              </a:spcAft>
              <a:defRPr sz="2100"/>
            </a:pPr>
            <a:r>
              <a:t>6. Levantar custos reais de licenciamento.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